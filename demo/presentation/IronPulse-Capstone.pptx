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ecfdf7cb-42a1-4efc-918e-d8eec20b7d76}">
          <p14:sldIdLst>
            <p14:sldId id="256"/>
            <p14:sldId id="257"/>
          </p14:sldIdLst>
        </p14:section>
        <p14:section name="Pipeline" id="{fa6da01e-9dc9-9d7c-1e5f-9d792906c14c}">
          <p14:sldIdLst>
            <p14:sldId id="258"/>
            <p14:sldId id="259"/>
            <p14:sldId id="260"/>
            <p14:sldId id="261"/>
            <p14:sldId id="262"/>
          </p14:sldIdLst>
        </p14:section>
        <p14:section name="Security" id="{d94def15-1aff-9f42-7ba3-b064d2801e5d}">
          <p14:sldIdLst>
            <p14:sldId id="263"/>
          </p14:sldIdLst>
        </p14:section>
        <p14:section name="Infrastructure" id="{b012eb7a-ca14-5fef-a4b1-5d2b64152a8a}">
          <p14:sldIdLst>
            <p14:sldId id="264"/>
            <p14:sldId id="265"/>
            <p14:sldId id="266"/>
            <p14:sldId id="267"/>
          </p14:sldIdLst>
        </p14:section>
        <p14:section name="Lessons" id="{63f03f24-8a18-b327-20e1-284f1e95978b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IronPulse: a gym management app used as the vehicle for a full DevOps pipeline, from laptop to a monitored EKS cluster.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app domain: members, plans, trainers, attendance and a dashboard. Business rules live in the backend, e.g. check-in is refused for expired members.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push travels: tests, image build, Trivy scan, push to GHCR, then Helm deploys to EKS. Terraform builds the VPC and EKS. Traefik routes / to React and /api to FastAPI; Prometheus and Grafana watch the backend.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IronPulse  ·  DevOps Capstone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8778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7AD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7AD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Himanshu10071/devops-project" TargetMode="External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imanshu10071/devops-project" TargetMode="Externa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"/>
          <p:cNvSpPr/>
          <p:nvPr/>
        </p:nvSpPr>
        <p:spPr>
          <a:xfrm>
            <a:off x="548640" y="685800"/>
            <a:ext cx="822960" cy="822960"/>
          </a:xfrm>
          <a:prstGeom prst="roundRect">
            <a:avLst>
              <a:gd name="adj" fmla="val 22222"/>
            </a:avLst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685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IronPulse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346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gym management platform, shipped through a complete DevOps pipeline to AWS EKS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3434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Final Capstone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Himanshu Chauhan  ·  October 2026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u="sng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github.com/Himanshu10071/devops-project</a:t>
            </a:r>
            <a:endParaRPr lang="en-US" sz="1600" dirty="0"/>
          </a:p>
        </p:txBody>
      </p:sp>
      <p:sp>
        <p:nvSpPr>
          <p:cNvPr id="7" name="frame m8-browser-ingress-elb.png"/>
          <p:cNvSpPr/>
          <p:nvPr/>
        </p:nvSpPr>
        <p:spPr>
          <a:xfrm>
            <a:off x="5943600" y="1629298"/>
            <a:ext cx="5760720" cy="3599403"/>
          </a:xfrm>
          <a:prstGeom prst="roundRect">
            <a:avLst>
              <a:gd name="adj" fmla="val 2032"/>
            </a:avLst>
          </a:prstGeom>
          <a:solidFill>
            <a:srgbClr val="1A1D24"/>
          </a:solidFill>
          <a:ln w="9525">
            <a:solidFill>
              <a:srgbClr val="2E33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8" name="m8-browser-ingress-elb.png" descr="C:\Users\himanshu\OneDrive\Desktop\YEAR 3\Term-1\capstone-devops\docs\screenshots\m8-browser-ingress-e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1702450"/>
            <a:ext cx="5614416" cy="316049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016752" y="4881230"/>
            <a:ext cx="5614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AWS EKS through the Traefik Ingress load balancer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IronPulse does</a:t>
            </a:r>
            <a:endParaRPr lang="en-US" sz="3000" dirty="0"/>
          </a:p>
        </p:txBody>
      </p:sp>
      <p:sp>
        <p:nvSpPr>
          <p:cNvPr id="3" name="module chip"/>
          <p:cNvSpPr/>
          <p:nvPr/>
        </p:nvSpPr>
        <p:spPr>
          <a:xfrm>
            <a:off x="9646920" y="438912"/>
            <a:ext cx="2011680" cy="438912"/>
          </a:xfrm>
          <a:prstGeom prst="roundRect">
            <a:avLst>
              <a:gd name="adj" fmla="val 50000"/>
            </a:avLst>
          </a:prstGeom>
          <a:solidFill>
            <a:srgbClr val="2A1A12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438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· App</a:t>
            </a:r>
            <a:endParaRPr lang="en-US" sz="1300" dirty="0"/>
          </a:p>
        </p:txBody>
      </p:sp>
      <p:sp>
        <p:nvSpPr>
          <p:cNvPr id="5" name="num 1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rgbClr val="2A1A12"/>
          </a:solidFill>
          <a:ln w="15875">
            <a:solidFill>
              <a:srgbClr val="FF5A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258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66420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search, renew, freeze; expiry is computed from the plan</a:t>
            </a:r>
            <a:endParaRPr lang="en-US" sz="1400" dirty="0"/>
          </a:p>
        </p:txBody>
      </p:sp>
      <p:sp>
        <p:nvSpPr>
          <p:cNvPr id="9" name="num 2"/>
          <p:cNvSpPr/>
          <p:nvPr/>
        </p:nvSpPr>
        <p:spPr>
          <a:xfrm>
            <a:off x="548640" y="2322576"/>
            <a:ext cx="502920" cy="502920"/>
          </a:xfrm>
          <a:prstGeom prst="ellipse">
            <a:avLst/>
          </a:prstGeom>
          <a:solidFill>
            <a:srgbClr val="2A1A12"/>
          </a:solidFill>
          <a:ln w="15875">
            <a:solidFill>
              <a:srgbClr val="FF5A1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322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27685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61518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to annual pricing; a plan in use can't be deleted</a:t>
            </a:r>
            <a:endParaRPr lang="en-US" sz="1400" dirty="0"/>
          </a:p>
        </p:txBody>
      </p:sp>
      <p:sp>
        <p:nvSpPr>
          <p:cNvPr id="13" name="num 3"/>
          <p:cNvSpPr/>
          <p:nvPr/>
        </p:nvSpPr>
        <p:spPr>
          <a:xfrm>
            <a:off x="548640" y="3273552"/>
            <a:ext cx="502920" cy="502920"/>
          </a:xfrm>
          <a:prstGeom prst="ellipse">
            <a:avLst/>
          </a:prstGeom>
          <a:solidFill>
            <a:srgbClr val="2A1A12"/>
          </a:solidFill>
          <a:ln w="15875">
            <a:solidFill>
              <a:srgbClr val="FF5A1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273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2278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5661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staff with live member counts</a:t>
            </a:r>
            <a:endParaRPr lang="en-US" sz="1400" dirty="0"/>
          </a:p>
        </p:txBody>
      </p:sp>
      <p:sp>
        <p:nvSpPr>
          <p:cNvPr id="17" name="num 4"/>
          <p:cNvSpPr/>
          <p:nvPr/>
        </p:nvSpPr>
        <p:spPr>
          <a:xfrm>
            <a:off x="548640" y="4224528"/>
            <a:ext cx="502920" cy="502920"/>
          </a:xfrm>
          <a:prstGeom prst="ellipse">
            <a:avLst/>
          </a:prstGeom>
          <a:solidFill>
            <a:srgbClr val="2A1A12"/>
          </a:solidFill>
          <a:ln w="15875">
            <a:solidFill>
              <a:srgbClr val="FF5A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224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1788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451713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check-in; expired or frozen members are refused</a:t>
            </a:r>
            <a:endParaRPr lang="en-US" sz="1400" dirty="0"/>
          </a:p>
        </p:txBody>
      </p:sp>
      <p:sp>
        <p:nvSpPr>
          <p:cNvPr id="21" name="num 5"/>
          <p:cNvSpPr/>
          <p:nvPr/>
        </p:nvSpPr>
        <p:spPr>
          <a:xfrm>
            <a:off x="548640" y="5175504"/>
            <a:ext cx="502920" cy="502920"/>
          </a:xfrm>
          <a:prstGeom prst="ellipse">
            <a:avLst/>
          </a:prstGeom>
          <a:solidFill>
            <a:srgbClr val="2A1A12"/>
          </a:solidFill>
          <a:ln w="15875">
            <a:solidFill>
              <a:srgbClr val="FF5A1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51755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512978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546811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expiring memberships, revenue, plan mix</a:t>
            </a:r>
            <a:endParaRPr lang="en-US" sz="1400" dirty="0"/>
          </a:p>
        </p:txBody>
      </p:sp>
      <p:sp>
        <p:nvSpPr>
          <p:cNvPr id="25" name="frame app-plans.png"/>
          <p:cNvSpPr/>
          <p:nvPr/>
        </p:nvSpPr>
        <p:spPr>
          <a:xfrm>
            <a:off x="5486400" y="1407033"/>
            <a:ext cx="4480560" cy="2855214"/>
          </a:xfrm>
          <a:prstGeom prst="roundRect">
            <a:avLst>
              <a:gd name="adj" fmla="val 2562"/>
            </a:avLst>
          </a:prstGeom>
          <a:solidFill>
            <a:srgbClr val="1A1D24"/>
          </a:solidFill>
          <a:ln w="9525">
            <a:solidFill>
              <a:srgbClr val="2E33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26" name="app-plans.png" descr="C:\Users\himanshu\OneDrive\Desktop\YEAR 3\Term-1\capstone-devops\docs\screenshots\app-pl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9552" y="1480185"/>
            <a:ext cx="4334256" cy="2708910"/>
          </a:xfrm>
          <a:prstGeom prst="rect">
            <a:avLst/>
          </a:prstGeom>
        </p:spPr>
      </p:pic>
      <p:sp>
        <p:nvSpPr>
          <p:cNvPr id="27" name="frame app-members-mobile.png"/>
          <p:cNvSpPr/>
          <p:nvPr/>
        </p:nvSpPr>
        <p:spPr>
          <a:xfrm>
            <a:off x="10058400" y="1424178"/>
            <a:ext cx="1691640" cy="2820924"/>
          </a:xfrm>
          <a:prstGeom prst="roundRect">
            <a:avLst>
              <a:gd name="adj" fmla="val 4324"/>
            </a:avLst>
          </a:prstGeom>
          <a:solidFill>
            <a:srgbClr val="1A1D24"/>
          </a:solidFill>
          <a:ln w="9525">
            <a:solidFill>
              <a:srgbClr val="2E33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28" name="app-members-mobile.png" descr="C:\Users\himanshu\OneDrive\Desktop\YEAR 3\Term-1\capstone-devops\docs\screenshots\app-members-mob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1552" y="1497330"/>
            <a:ext cx="1545336" cy="2674620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5486400" y="470916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frontend · FastAPI backend · PostgreSQL 16 · 20+ REST endpoints · responsive down to phone width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7AD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laptop to a monitored EKS cluster</a:t>
            </a:r>
            <a:endParaRPr lang="en-US" sz="3000" dirty="0"/>
          </a:p>
        </p:txBody>
      </p:sp>
      <p:sp>
        <p:nvSpPr>
          <p:cNvPr id="3" name="module chip"/>
          <p:cNvSpPr/>
          <p:nvPr/>
        </p:nvSpPr>
        <p:spPr>
          <a:xfrm>
            <a:off x="9646920" y="438912"/>
            <a:ext cx="2011680" cy="438912"/>
          </a:xfrm>
          <a:prstGeom prst="roundRect">
            <a:avLst>
              <a:gd name="adj" fmla="val 50000"/>
            </a:avLst>
          </a:prstGeom>
          <a:solidFill>
            <a:srgbClr val="2A1A12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438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5" name="box Developer"/>
          <p:cNvSpPr/>
          <p:nvPr/>
        </p:nvSpPr>
        <p:spPr>
          <a:xfrm>
            <a:off x="548640" y="132588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232733"/>
          </a:solidFill>
          <a:ln w="12700">
            <a:solidFill>
              <a:srgbClr val="2E334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25880"/>
            <a:ext cx="155448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300" dirty="0"/>
          </a:p>
        </p:txBody>
      </p:sp>
      <p:sp>
        <p:nvSpPr>
          <p:cNvPr id="7" name="arrow"/>
          <p:cNvSpPr/>
          <p:nvPr/>
        </p:nvSpPr>
        <p:spPr>
          <a:xfrm>
            <a:off x="2103120" y="1645920"/>
            <a:ext cx="411480" cy="914"/>
          </a:xfrm>
          <a:prstGeom prst="line">
            <a:avLst/>
          </a:prstGeom>
          <a:noFill/>
          <a:ln w="22225">
            <a:solidFill>
              <a:srgbClr val="FF9A3C"/>
            </a:solidFill>
            <a:prstDash val="solid"/>
            <a:tailEnd type="triangle"/>
          </a:ln>
        </p:spPr>
      </p:sp>
      <p:sp>
        <p:nvSpPr>
          <p:cNvPr id="8" name="box GitHub"/>
          <p:cNvSpPr/>
          <p:nvPr/>
        </p:nvSpPr>
        <p:spPr>
          <a:xfrm>
            <a:off x="2514600" y="132588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232733"/>
          </a:solidFill>
          <a:ln w="12700">
            <a:solidFill>
              <a:srgbClr val="2E334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14600" y="1325880"/>
            <a:ext cx="155448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10" name="arrow"/>
          <p:cNvSpPr/>
          <p:nvPr/>
        </p:nvSpPr>
        <p:spPr>
          <a:xfrm>
            <a:off x="4069080" y="1645920"/>
            <a:ext cx="411480" cy="914"/>
          </a:xfrm>
          <a:prstGeom prst="line">
            <a:avLst/>
          </a:prstGeom>
          <a:noFill/>
          <a:ln w="22225">
            <a:solidFill>
              <a:srgbClr val="FF9A3C"/>
            </a:solidFill>
            <a:prstDash val="solid"/>
            <a:tailEnd type="triangle"/>
          </a:ln>
        </p:spPr>
      </p:sp>
      <p:sp>
        <p:nvSpPr>
          <p:cNvPr id="11" name="actions"/>
          <p:cNvSpPr/>
          <p:nvPr/>
        </p:nvSpPr>
        <p:spPr>
          <a:xfrm>
            <a:off x="4480560" y="1188720"/>
            <a:ext cx="7178040" cy="914400"/>
          </a:xfrm>
          <a:prstGeom prst="roundRect">
            <a:avLst>
              <a:gd name="adj" fmla="val 10000"/>
            </a:avLst>
          </a:prstGeom>
          <a:solidFill>
            <a:srgbClr val="1A1D24"/>
          </a:solidFill>
          <a:ln w="15875">
            <a:solidFill>
              <a:srgbClr val="FF5A1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17720" y="11887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</a:t>
            </a:r>
            <a:endParaRPr lang="en-US" sz="1300" dirty="0"/>
          </a:p>
        </p:txBody>
      </p:sp>
      <p:sp>
        <p:nvSpPr>
          <p:cNvPr id="13" name="box pytest"/>
          <p:cNvSpPr/>
          <p:nvPr/>
        </p:nvSpPr>
        <p:spPr>
          <a:xfrm>
            <a:off x="6126480" y="1417320"/>
            <a:ext cx="841248" cy="457200"/>
          </a:xfrm>
          <a:prstGeom prst="roundRect">
            <a:avLst>
              <a:gd name="adj" fmla="val 16000"/>
            </a:avLst>
          </a:prstGeom>
          <a:solidFill>
            <a:srgbClr val="232733"/>
          </a:solidFill>
          <a:ln w="12700">
            <a:solidFill>
              <a:srgbClr val="2E334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26480" y="1417320"/>
            <a:ext cx="841248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000" dirty="0"/>
          </a:p>
        </p:txBody>
      </p:sp>
      <p:sp>
        <p:nvSpPr>
          <p:cNvPr id="15" name="box frontend build"/>
          <p:cNvSpPr/>
          <p:nvPr/>
        </p:nvSpPr>
        <p:spPr>
          <a:xfrm>
            <a:off x="7040880" y="1417320"/>
            <a:ext cx="841248" cy="457200"/>
          </a:xfrm>
          <a:prstGeom prst="roundRect">
            <a:avLst>
              <a:gd name="adj" fmla="val 16000"/>
            </a:avLst>
          </a:prstGeom>
          <a:solidFill>
            <a:srgbClr val="232733"/>
          </a:solidFill>
          <a:ln w="12700">
            <a:solidFill>
              <a:srgbClr val="2E334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40880" y="1417320"/>
            <a:ext cx="841248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build</a:t>
            </a:r>
            <a:endParaRPr lang="en-US" sz="1000" dirty="0"/>
          </a:p>
        </p:txBody>
      </p:sp>
      <p:sp>
        <p:nvSpPr>
          <p:cNvPr id="17" name="box docker build"/>
          <p:cNvSpPr/>
          <p:nvPr/>
        </p:nvSpPr>
        <p:spPr>
          <a:xfrm>
            <a:off x="7955280" y="1417320"/>
            <a:ext cx="841248" cy="457200"/>
          </a:xfrm>
          <a:prstGeom prst="roundRect">
            <a:avLst>
              <a:gd name="adj" fmla="val 16000"/>
            </a:avLst>
          </a:prstGeom>
          <a:solidFill>
            <a:srgbClr val="232733"/>
          </a:solidFill>
          <a:ln w="12700">
            <a:solidFill>
              <a:srgbClr val="2E334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955280" y="1417320"/>
            <a:ext cx="841248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</a:t>
            </a:r>
            <a:endParaRPr lang="en-US" sz="1000" dirty="0"/>
          </a:p>
        </p:txBody>
      </p:sp>
      <p:sp>
        <p:nvSpPr>
          <p:cNvPr id="19" name="box Trivy scan"/>
          <p:cNvSpPr/>
          <p:nvPr/>
        </p:nvSpPr>
        <p:spPr>
          <a:xfrm>
            <a:off x="8869680" y="1417320"/>
            <a:ext cx="841248" cy="457200"/>
          </a:xfrm>
          <a:prstGeom prst="roundRect">
            <a:avLst>
              <a:gd name="adj" fmla="val 16000"/>
            </a:avLst>
          </a:prstGeom>
          <a:solidFill>
            <a:srgbClr val="232733"/>
          </a:solidFill>
          <a:ln w="12700">
            <a:solidFill>
              <a:srgbClr val="2E334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869680" y="1417320"/>
            <a:ext cx="841248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scan</a:t>
            </a:r>
            <a:endParaRPr lang="en-US" sz="1000" dirty="0"/>
          </a:p>
        </p:txBody>
      </p:sp>
      <p:sp>
        <p:nvSpPr>
          <p:cNvPr id="21" name="box push GHCR"/>
          <p:cNvSpPr/>
          <p:nvPr/>
        </p:nvSpPr>
        <p:spPr>
          <a:xfrm>
            <a:off x="9784080" y="1417320"/>
            <a:ext cx="841248" cy="457200"/>
          </a:xfrm>
          <a:prstGeom prst="roundRect">
            <a:avLst>
              <a:gd name="adj" fmla="val 16000"/>
            </a:avLst>
          </a:prstGeom>
          <a:solidFill>
            <a:srgbClr val="232733"/>
          </a:solidFill>
          <a:ln w="12700">
            <a:solidFill>
              <a:srgbClr val="2E334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784080" y="1417320"/>
            <a:ext cx="841248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GHCR</a:t>
            </a:r>
            <a:endParaRPr lang="en-US" sz="1000" dirty="0"/>
          </a:p>
        </p:txBody>
      </p:sp>
      <p:sp>
        <p:nvSpPr>
          <p:cNvPr id="23" name="box helm deploy"/>
          <p:cNvSpPr/>
          <p:nvPr/>
        </p:nvSpPr>
        <p:spPr>
          <a:xfrm>
            <a:off x="10698480" y="1417320"/>
            <a:ext cx="841248" cy="457200"/>
          </a:xfrm>
          <a:prstGeom prst="roundRect">
            <a:avLst>
              <a:gd name="adj" fmla="val 16000"/>
            </a:avLst>
          </a:prstGeom>
          <a:solidFill>
            <a:srgbClr val="232733"/>
          </a:solidFill>
          <a:ln w="12700">
            <a:solidFill>
              <a:srgbClr val="2E334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698480" y="1417320"/>
            <a:ext cx="841248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deploy</a:t>
            </a:r>
            <a:endParaRPr lang="en-US" sz="1000" dirty="0"/>
          </a:p>
        </p:txBody>
      </p:sp>
      <p:sp>
        <p:nvSpPr>
          <p:cNvPr id="25" name="box Terraform"/>
          <p:cNvSpPr/>
          <p:nvPr/>
        </p:nvSpPr>
        <p:spPr>
          <a:xfrm>
            <a:off x="548640" y="301752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2A1A12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3017520"/>
            <a:ext cx="201168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3840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· subnets · NAT · EKS · node group · IAM</a:t>
            </a:r>
            <a:endParaRPr lang="en-US" sz="1100" dirty="0"/>
          </a:p>
        </p:txBody>
      </p:sp>
      <p:sp>
        <p:nvSpPr>
          <p:cNvPr id="28" name="arrow"/>
          <p:cNvSpPr/>
          <p:nvPr/>
        </p:nvSpPr>
        <p:spPr>
          <a:xfrm>
            <a:off x="2560320" y="3383280"/>
            <a:ext cx="548640" cy="914"/>
          </a:xfrm>
          <a:prstGeom prst="line">
            <a:avLst/>
          </a:prstGeom>
          <a:noFill/>
          <a:ln w="22225">
            <a:solidFill>
              <a:srgbClr val="FF9A3C"/>
            </a:solidFill>
            <a:prstDash val="solid"/>
            <a:tailEnd type="triangle"/>
          </a:ln>
        </p:spPr>
      </p:sp>
      <p:sp>
        <p:nvSpPr>
          <p:cNvPr id="29" name="aws"/>
          <p:cNvSpPr/>
          <p:nvPr/>
        </p:nvSpPr>
        <p:spPr>
          <a:xfrm>
            <a:off x="3108960" y="2514600"/>
            <a:ext cx="8549640" cy="3703320"/>
          </a:xfrm>
          <a:prstGeom prst="roundRect">
            <a:avLst>
              <a:gd name="adj" fmla="val 2963"/>
            </a:avLst>
          </a:prstGeom>
          <a:solidFill>
            <a:srgbClr val="141821"/>
          </a:solidFill>
          <a:ln w="12700">
            <a:solidFill>
              <a:srgbClr val="2E3340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3291840" y="25786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ap-south-1 · VPC 10.30.0.0/16 · EKS 1.35 · 2 × m7i-flex.large</a:t>
            </a:r>
            <a:endParaRPr lang="en-US" sz="1200" dirty="0"/>
          </a:p>
        </p:txBody>
      </p:sp>
      <p:sp>
        <p:nvSpPr>
          <p:cNvPr id="31" name="arrow"/>
          <p:cNvSpPr/>
          <p:nvPr/>
        </p:nvSpPr>
        <p:spPr>
          <a:xfrm>
            <a:off x="11155680" y="2103120"/>
            <a:ext cx="914" cy="960120"/>
          </a:xfrm>
          <a:prstGeom prst="line">
            <a:avLst/>
          </a:prstGeom>
          <a:noFill/>
          <a:ln w="22225">
            <a:solidFill>
              <a:srgbClr val="FF9A3C"/>
            </a:solidFill>
            <a:prstDash val="solid"/>
            <a:tailEnd type="triangle"/>
          </a:ln>
        </p:spPr>
      </p:sp>
      <p:sp>
        <p:nvSpPr>
          <p:cNvPr id="32" name="box AWS Load Balancer"/>
          <p:cNvSpPr/>
          <p:nvPr/>
        </p:nvSpPr>
        <p:spPr>
          <a:xfrm>
            <a:off x="3383280" y="310896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232733"/>
          </a:solidFill>
          <a:ln w="12700">
            <a:solidFill>
              <a:srgbClr val="2E334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383280" y="3108960"/>
            <a:ext cx="173736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Load Balancer</a:t>
            </a:r>
            <a:endParaRPr lang="en-US" sz="1300" dirty="0"/>
          </a:p>
        </p:txBody>
      </p:sp>
      <p:sp>
        <p:nvSpPr>
          <p:cNvPr id="34" name="arrow"/>
          <p:cNvSpPr/>
          <p:nvPr/>
        </p:nvSpPr>
        <p:spPr>
          <a:xfrm>
            <a:off x="5120640" y="3474720"/>
            <a:ext cx="365760" cy="914"/>
          </a:xfrm>
          <a:prstGeom prst="line">
            <a:avLst/>
          </a:prstGeom>
          <a:noFill/>
          <a:ln w="22225">
            <a:solidFill>
              <a:srgbClr val="FF9A3C"/>
            </a:solidFill>
            <a:prstDash val="solid"/>
            <a:tailEnd type="triangle"/>
          </a:ln>
        </p:spPr>
      </p:sp>
      <p:sp>
        <p:nvSpPr>
          <p:cNvPr id="35" name="box Traefik Ingress"/>
          <p:cNvSpPr/>
          <p:nvPr/>
        </p:nvSpPr>
        <p:spPr>
          <a:xfrm>
            <a:off x="5486400" y="310896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2A1A12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0" y="3108960"/>
            <a:ext cx="173736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Traefik Ingress</a:t>
            </a:r>
            <a:endParaRPr lang="en-US" sz="1300" dirty="0"/>
          </a:p>
        </p:txBody>
      </p:sp>
      <p:sp>
        <p:nvSpPr>
          <p:cNvPr id="37" name="arrow"/>
          <p:cNvSpPr/>
          <p:nvPr/>
        </p:nvSpPr>
        <p:spPr>
          <a:xfrm flipV="1">
            <a:off x="7223760" y="3246120"/>
            <a:ext cx="457200" cy="91440"/>
          </a:xfrm>
          <a:prstGeom prst="line">
            <a:avLst/>
          </a:prstGeom>
          <a:noFill/>
          <a:ln w="22225">
            <a:solidFill>
              <a:srgbClr val="FF9A3C"/>
            </a:solidFill>
            <a:prstDash val="solid"/>
            <a:tailEnd type="triangle"/>
          </a:ln>
        </p:spPr>
      </p:sp>
      <p:sp>
        <p:nvSpPr>
          <p:cNvPr id="38" name="arrow"/>
          <p:cNvSpPr/>
          <p:nvPr/>
        </p:nvSpPr>
        <p:spPr>
          <a:xfrm>
            <a:off x="7223760" y="3611880"/>
            <a:ext cx="457200" cy="548640"/>
          </a:xfrm>
          <a:prstGeom prst="line">
            <a:avLst/>
          </a:prstGeom>
          <a:noFill/>
          <a:ln w="22225">
            <a:solidFill>
              <a:srgbClr val="FF9A3C"/>
            </a:solidFill>
            <a:prstDash val="solid"/>
            <a:tailEnd type="triangle"/>
          </a:ln>
        </p:spPr>
      </p:sp>
      <p:sp>
        <p:nvSpPr>
          <p:cNvPr id="39" name="box / → React + Nginx ×2"/>
          <p:cNvSpPr/>
          <p:nvPr/>
        </p:nvSpPr>
        <p:spPr>
          <a:xfrm>
            <a:off x="7680960" y="301752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232733"/>
          </a:solidFill>
          <a:ln w="12700">
            <a:solidFill>
              <a:srgbClr val="2E334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680960" y="3017520"/>
            <a:ext cx="21945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→ React + Nginx ×2</a:t>
            </a:r>
            <a:endParaRPr lang="en-US" sz="1200" dirty="0"/>
          </a:p>
        </p:txBody>
      </p:sp>
      <p:sp>
        <p:nvSpPr>
          <p:cNvPr id="41" name="box /api → FastAPI ×2–8"/>
          <p:cNvSpPr/>
          <p:nvPr/>
        </p:nvSpPr>
        <p:spPr>
          <a:xfrm>
            <a:off x="7680960" y="393192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232733"/>
          </a:solidFill>
          <a:ln w="12700">
            <a:solidFill>
              <a:srgbClr val="2E334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680960" y="3931920"/>
            <a:ext cx="21945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 → FastAPI ×2–8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9921240" y="39319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</a:t>
            </a:r>
            <a:endParaRPr lang="en-US" sz="1200" dirty="0"/>
          </a:p>
        </p:txBody>
      </p:sp>
      <p:sp>
        <p:nvSpPr>
          <p:cNvPr id="44" name="arrow"/>
          <p:cNvSpPr/>
          <p:nvPr/>
        </p:nvSpPr>
        <p:spPr>
          <a:xfrm>
            <a:off x="8778240" y="4480560"/>
            <a:ext cx="914" cy="411480"/>
          </a:xfrm>
          <a:prstGeom prst="line">
            <a:avLst/>
          </a:prstGeom>
          <a:noFill/>
          <a:ln w="22225">
            <a:solidFill>
              <a:srgbClr val="FF9A3C"/>
            </a:solidFill>
            <a:prstDash val="solid"/>
            <a:tailEnd type="triangle"/>
          </a:ln>
        </p:spPr>
      </p:sp>
      <p:sp>
        <p:nvSpPr>
          <p:cNvPr id="45" name="box PostgreSQL + EBS gp3"/>
          <p:cNvSpPr/>
          <p:nvPr/>
        </p:nvSpPr>
        <p:spPr>
          <a:xfrm>
            <a:off x="7680960" y="489204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232733"/>
          </a:solidFill>
          <a:ln w="12700">
            <a:solidFill>
              <a:srgbClr val="2E334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680960" y="4892040"/>
            <a:ext cx="21945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EBS gp3</a:t>
            </a:r>
            <a:endParaRPr lang="en-US" sz="1200" dirty="0"/>
          </a:p>
        </p:txBody>
      </p:sp>
      <p:sp>
        <p:nvSpPr>
          <p:cNvPr id="47" name="box Prometheus ← ServiceMonitor /metrics"/>
          <p:cNvSpPr/>
          <p:nvPr/>
        </p:nvSpPr>
        <p:spPr>
          <a:xfrm>
            <a:off x="3383280" y="4892040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232733"/>
          </a:solidFill>
          <a:ln w="12700">
            <a:solidFill>
              <a:srgbClr val="2E334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383280" y="4892040"/>
            <a:ext cx="35661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← ServiceMonitor /metrics</a:t>
            </a:r>
            <a:endParaRPr lang="en-US" sz="1200" dirty="0"/>
          </a:p>
        </p:txBody>
      </p:sp>
      <p:sp>
        <p:nvSpPr>
          <p:cNvPr id="49" name="box Grafana dashboard (auto-provisioned)"/>
          <p:cNvSpPr/>
          <p:nvPr/>
        </p:nvSpPr>
        <p:spPr>
          <a:xfrm>
            <a:off x="3383280" y="5532120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232733"/>
          </a:solidFill>
          <a:ln w="12700">
            <a:solidFill>
              <a:srgbClr val="2E334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383280" y="5532120"/>
            <a:ext cx="35661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dashboard (auto-provisioned)</a:t>
            </a:r>
            <a:endParaRPr lang="en-US" sz="1200" dirty="0"/>
          </a:p>
        </p:txBody>
      </p:sp>
      <p:sp>
        <p:nvSpPr>
          <p:cNvPr id="51" name="arrow"/>
          <p:cNvSpPr/>
          <p:nvPr/>
        </p:nvSpPr>
        <p:spPr>
          <a:xfrm flipH="1">
            <a:off x="6949440" y="4389120"/>
            <a:ext cx="731520" cy="594360"/>
          </a:xfrm>
          <a:prstGeom prst="line">
            <a:avLst/>
          </a:prstGeom>
          <a:noFill/>
          <a:ln w="22225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52" name="Text 50"/>
          <p:cNvSpPr txBox="1"/>
          <p:nvPr/>
        </p:nvSpPr>
        <p:spPr>
          <a:xfrm>
            <a:off x="6903720" y="43434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7AD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3" name="module chip"/>
          <p:cNvSpPr/>
          <p:nvPr/>
        </p:nvSpPr>
        <p:spPr>
          <a:xfrm>
            <a:off x="9646920" y="438912"/>
            <a:ext cx="2011680" cy="438912"/>
          </a:xfrm>
          <a:prstGeom prst="roundRect">
            <a:avLst>
              <a:gd name="adj" fmla="val 50000"/>
            </a:avLst>
          </a:prstGeom>
          <a:solidFill>
            <a:srgbClr val="2A1A12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438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5" name="card Frontend"/>
          <p:cNvSpPr/>
          <p:nvPr/>
        </p:nvSpPr>
        <p:spPr>
          <a:xfrm>
            <a:off x="548640" y="1600200"/>
            <a:ext cx="2075688" cy="1783080"/>
          </a:xfrm>
          <a:prstGeom prst="roundRect">
            <a:avLst>
              <a:gd name="adj" fmla="val 5128"/>
            </a:avLst>
          </a:prstGeom>
          <a:solidFill>
            <a:srgbClr val="1A1D24"/>
          </a:solidFill>
          <a:ln w="9525">
            <a:solidFill>
              <a:srgbClr val="2E3340"/>
            </a:solidFill>
            <a:prstDash val="solid"/>
          </a:ln>
        </p:spPr>
      </p:sp>
      <p:sp>
        <p:nvSpPr>
          <p:cNvPr id="6" name="dot"/>
          <p:cNvSpPr/>
          <p:nvPr/>
        </p:nvSpPr>
        <p:spPr>
          <a:xfrm>
            <a:off x="777240" y="1847088"/>
            <a:ext cx="201168" cy="201168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737360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94560"/>
            <a:ext cx="1618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19, Vite 8, responsive CSS</a:t>
            </a:r>
            <a:endParaRPr lang="en-US" sz="1400" dirty="0"/>
          </a:p>
        </p:txBody>
      </p:sp>
      <p:sp>
        <p:nvSpPr>
          <p:cNvPr id="9" name="card Backend"/>
          <p:cNvSpPr/>
          <p:nvPr/>
        </p:nvSpPr>
        <p:spPr>
          <a:xfrm>
            <a:off x="2807208" y="1600200"/>
            <a:ext cx="2075688" cy="1783080"/>
          </a:xfrm>
          <a:prstGeom prst="roundRect">
            <a:avLst>
              <a:gd name="adj" fmla="val 5128"/>
            </a:avLst>
          </a:prstGeom>
          <a:solidFill>
            <a:srgbClr val="1A1D24"/>
          </a:solidFill>
          <a:ln w="9525">
            <a:solidFill>
              <a:srgbClr val="2E3340"/>
            </a:solidFill>
            <a:prstDash val="solid"/>
          </a:ln>
        </p:spPr>
      </p:sp>
      <p:sp>
        <p:nvSpPr>
          <p:cNvPr id="10" name="dot"/>
          <p:cNvSpPr/>
          <p:nvPr/>
        </p:nvSpPr>
        <p:spPr>
          <a:xfrm>
            <a:off x="3035808" y="1847088"/>
            <a:ext cx="201168" cy="2011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55848" y="1737360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035808" y="2194560"/>
            <a:ext cx="1618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SQLAlchemy 2, Pydantic 2</a:t>
            </a:r>
            <a:endParaRPr lang="en-US" sz="1400" dirty="0"/>
          </a:p>
        </p:txBody>
      </p:sp>
      <p:sp>
        <p:nvSpPr>
          <p:cNvPr id="13" name="card Database"/>
          <p:cNvSpPr/>
          <p:nvPr/>
        </p:nvSpPr>
        <p:spPr>
          <a:xfrm>
            <a:off x="5065776" y="1600200"/>
            <a:ext cx="2075688" cy="1783080"/>
          </a:xfrm>
          <a:prstGeom prst="roundRect">
            <a:avLst>
              <a:gd name="adj" fmla="val 5128"/>
            </a:avLst>
          </a:prstGeom>
          <a:solidFill>
            <a:srgbClr val="1A1D24"/>
          </a:solidFill>
          <a:ln w="9525">
            <a:solidFill>
              <a:srgbClr val="2E3340"/>
            </a:solidFill>
            <a:prstDash val="solid"/>
          </a:ln>
        </p:spPr>
      </p:sp>
      <p:sp>
        <p:nvSpPr>
          <p:cNvPr id="14" name="dot"/>
          <p:cNvSpPr/>
          <p:nvPr/>
        </p:nvSpPr>
        <p:spPr>
          <a:xfrm>
            <a:off x="5294376" y="1847088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14416" y="1737360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294376" y="2194560"/>
            <a:ext cx="1618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16, Alembic migrations</a:t>
            </a:r>
            <a:endParaRPr lang="en-US" sz="1400" dirty="0"/>
          </a:p>
        </p:txBody>
      </p:sp>
      <p:sp>
        <p:nvSpPr>
          <p:cNvPr id="17" name="card Testing"/>
          <p:cNvSpPr/>
          <p:nvPr/>
        </p:nvSpPr>
        <p:spPr>
          <a:xfrm>
            <a:off x="7324344" y="1600200"/>
            <a:ext cx="2075688" cy="1783080"/>
          </a:xfrm>
          <a:prstGeom prst="roundRect">
            <a:avLst>
              <a:gd name="adj" fmla="val 5128"/>
            </a:avLst>
          </a:prstGeom>
          <a:solidFill>
            <a:srgbClr val="1A1D24"/>
          </a:solidFill>
          <a:ln w="9525">
            <a:solidFill>
              <a:srgbClr val="2E3340"/>
            </a:solidFill>
            <a:prstDash val="solid"/>
          </a:ln>
        </p:spPr>
      </p:sp>
      <p:sp>
        <p:nvSpPr>
          <p:cNvPr id="18" name="dot"/>
          <p:cNvSpPr/>
          <p:nvPr/>
        </p:nvSpPr>
        <p:spPr>
          <a:xfrm>
            <a:off x="7552944" y="1847088"/>
            <a:ext cx="201168" cy="20116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72984" y="1737360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552944" y="2194560"/>
            <a:ext cx="1618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Pytest, 27 tests, isolated SQLite</a:t>
            </a:r>
            <a:endParaRPr lang="en-US" sz="1400" dirty="0"/>
          </a:p>
        </p:txBody>
      </p:sp>
      <p:sp>
        <p:nvSpPr>
          <p:cNvPr id="21" name="card Containers"/>
          <p:cNvSpPr/>
          <p:nvPr/>
        </p:nvSpPr>
        <p:spPr>
          <a:xfrm>
            <a:off x="9582912" y="1600200"/>
            <a:ext cx="2075688" cy="1783080"/>
          </a:xfrm>
          <a:prstGeom prst="roundRect">
            <a:avLst>
              <a:gd name="adj" fmla="val 5128"/>
            </a:avLst>
          </a:prstGeom>
          <a:solidFill>
            <a:srgbClr val="1A1D24"/>
          </a:solidFill>
          <a:ln w="9525">
            <a:solidFill>
              <a:srgbClr val="2E3340"/>
            </a:solidFill>
            <a:prstDash val="solid"/>
          </a:ln>
        </p:spPr>
      </p:sp>
      <p:sp>
        <p:nvSpPr>
          <p:cNvPr id="22" name="dot"/>
          <p:cNvSpPr/>
          <p:nvPr/>
        </p:nvSpPr>
        <p:spPr>
          <a:xfrm>
            <a:off x="9811512" y="1847088"/>
            <a:ext cx="201168" cy="201168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131552" y="1737360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811512" y="2194560"/>
            <a:ext cx="1618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Docker, non-root, Compose</a:t>
            </a:r>
            <a:endParaRPr lang="en-US" sz="1400" dirty="0"/>
          </a:p>
        </p:txBody>
      </p:sp>
      <p:sp>
        <p:nvSpPr>
          <p:cNvPr id="25" name="card CI/CD"/>
          <p:cNvSpPr/>
          <p:nvPr/>
        </p:nvSpPr>
        <p:spPr>
          <a:xfrm>
            <a:off x="548640" y="3749040"/>
            <a:ext cx="2075688" cy="1783080"/>
          </a:xfrm>
          <a:prstGeom prst="roundRect">
            <a:avLst>
              <a:gd name="adj" fmla="val 5128"/>
            </a:avLst>
          </a:prstGeom>
          <a:solidFill>
            <a:srgbClr val="1A1D24"/>
          </a:solidFill>
          <a:ln w="9525">
            <a:solidFill>
              <a:srgbClr val="2E3340"/>
            </a:solidFill>
            <a:prstDash val="solid"/>
          </a:ln>
        </p:spPr>
      </p:sp>
      <p:sp>
        <p:nvSpPr>
          <p:cNvPr id="26" name="dot"/>
          <p:cNvSpPr/>
          <p:nvPr/>
        </p:nvSpPr>
        <p:spPr>
          <a:xfrm>
            <a:off x="777240" y="3995928"/>
            <a:ext cx="201168" cy="2011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97280" y="3886200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" y="4343400"/>
            <a:ext cx="1618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→ GHCR → Helm</a:t>
            </a:r>
            <a:endParaRPr lang="en-US" sz="1400" dirty="0"/>
          </a:p>
        </p:txBody>
      </p:sp>
      <p:sp>
        <p:nvSpPr>
          <p:cNvPr id="29" name="card Security"/>
          <p:cNvSpPr/>
          <p:nvPr/>
        </p:nvSpPr>
        <p:spPr>
          <a:xfrm>
            <a:off x="2807208" y="3749040"/>
            <a:ext cx="2075688" cy="1783080"/>
          </a:xfrm>
          <a:prstGeom prst="roundRect">
            <a:avLst>
              <a:gd name="adj" fmla="val 5128"/>
            </a:avLst>
          </a:prstGeom>
          <a:solidFill>
            <a:srgbClr val="1A1D24"/>
          </a:solidFill>
          <a:ln w="9525">
            <a:solidFill>
              <a:srgbClr val="2E3340"/>
            </a:solidFill>
            <a:prstDash val="solid"/>
          </a:ln>
        </p:spPr>
      </p:sp>
      <p:sp>
        <p:nvSpPr>
          <p:cNvPr id="30" name="dot"/>
          <p:cNvSpPr/>
          <p:nvPr/>
        </p:nvSpPr>
        <p:spPr>
          <a:xfrm>
            <a:off x="3035808" y="3995928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355848" y="3886200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3035808" y="4343400"/>
            <a:ext cx="1618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(SHA-pinned), restricted PSA</a:t>
            </a:r>
            <a:endParaRPr lang="en-US" sz="1400" dirty="0"/>
          </a:p>
        </p:txBody>
      </p:sp>
      <p:sp>
        <p:nvSpPr>
          <p:cNvPr id="33" name="card IaC"/>
          <p:cNvSpPr/>
          <p:nvPr/>
        </p:nvSpPr>
        <p:spPr>
          <a:xfrm>
            <a:off x="5065776" y="3749040"/>
            <a:ext cx="2075688" cy="1783080"/>
          </a:xfrm>
          <a:prstGeom prst="roundRect">
            <a:avLst>
              <a:gd name="adj" fmla="val 5128"/>
            </a:avLst>
          </a:prstGeom>
          <a:solidFill>
            <a:srgbClr val="1A1D24"/>
          </a:solidFill>
          <a:ln w="9525">
            <a:solidFill>
              <a:srgbClr val="2E3340"/>
            </a:solidFill>
            <a:prstDash val="solid"/>
          </a:ln>
        </p:spPr>
      </p:sp>
      <p:sp>
        <p:nvSpPr>
          <p:cNvPr id="34" name="dot"/>
          <p:cNvSpPr/>
          <p:nvPr/>
        </p:nvSpPr>
        <p:spPr>
          <a:xfrm>
            <a:off x="5294376" y="3995928"/>
            <a:ext cx="201168" cy="20116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614416" y="3886200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IaC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5294376" y="4343400"/>
            <a:ext cx="1618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Terraform: VPC, EKS, IAM, EBS CSI</a:t>
            </a:r>
            <a:endParaRPr lang="en-US" sz="1400" dirty="0"/>
          </a:p>
        </p:txBody>
      </p:sp>
      <p:sp>
        <p:nvSpPr>
          <p:cNvPr id="37" name="card Kubernetes"/>
          <p:cNvSpPr/>
          <p:nvPr/>
        </p:nvSpPr>
        <p:spPr>
          <a:xfrm>
            <a:off x="7324344" y="3749040"/>
            <a:ext cx="2075688" cy="1783080"/>
          </a:xfrm>
          <a:prstGeom prst="roundRect">
            <a:avLst>
              <a:gd name="adj" fmla="val 5128"/>
            </a:avLst>
          </a:prstGeom>
          <a:solidFill>
            <a:srgbClr val="1A1D24"/>
          </a:solidFill>
          <a:ln w="9525">
            <a:solidFill>
              <a:srgbClr val="2E3340"/>
            </a:solidFill>
            <a:prstDash val="solid"/>
          </a:ln>
        </p:spPr>
      </p:sp>
      <p:sp>
        <p:nvSpPr>
          <p:cNvPr id="38" name="dot"/>
          <p:cNvSpPr/>
          <p:nvPr/>
        </p:nvSpPr>
        <p:spPr>
          <a:xfrm>
            <a:off x="7552944" y="3995928"/>
            <a:ext cx="201168" cy="201168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872984" y="3886200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7552944" y="4343400"/>
            <a:ext cx="1618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Helm, Traefik Ingress, HPA</a:t>
            </a:r>
            <a:endParaRPr lang="en-US" sz="1400" dirty="0"/>
          </a:p>
        </p:txBody>
      </p:sp>
      <p:sp>
        <p:nvSpPr>
          <p:cNvPr id="41" name="card Observability"/>
          <p:cNvSpPr/>
          <p:nvPr/>
        </p:nvSpPr>
        <p:spPr>
          <a:xfrm>
            <a:off x="9582912" y="3749040"/>
            <a:ext cx="2075688" cy="1783080"/>
          </a:xfrm>
          <a:prstGeom prst="roundRect">
            <a:avLst>
              <a:gd name="adj" fmla="val 5128"/>
            </a:avLst>
          </a:prstGeom>
          <a:solidFill>
            <a:srgbClr val="1A1D24"/>
          </a:solidFill>
          <a:ln w="9525">
            <a:solidFill>
              <a:srgbClr val="2E3340"/>
            </a:solidFill>
            <a:prstDash val="solid"/>
          </a:ln>
        </p:spPr>
      </p:sp>
      <p:sp>
        <p:nvSpPr>
          <p:cNvPr id="42" name="dot"/>
          <p:cNvSpPr/>
          <p:nvPr/>
        </p:nvSpPr>
        <p:spPr>
          <a:xfrm>
            <a:off x="9811512" y="3995928"/>
            <a:ext cx="201168" cy="2011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131552" y="3886200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9811512" y="4343400"/>
            <a:ext cx="1618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Operator, Grafana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7AD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on AWS through the Ingress</a:t>
            </a:r>
            <a:endParaRPr lang="en-US" sz="3000" dirty="0"/>
          </a:p>
        </p:txBody>
      </p:sp>
      <p:sp>
        <p:nvSpPr>
          <p:cNvPr id="3" name="module chip"/>
          <p:cNvSpPr/>
          <p:nvPr/>
        </p:nvSpPr>
        <p:spPr>
          <a:xfrm>
            <a:off x="9646920" y="438912"/>
            <a:ext cx="2011680" cy="438912"/>
          </a:xfrm>
          <a:prstGeom prst="roundRect">
            <a:avLst>
              <a:gd name="adj" fmla="val 50000"/>
            </a:avLst>
          </a:prstGeom>
          <a:solidFill>
            <a:srgbClr val="2A1A12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438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· M8</a:t>
            </a:r>
            <a:endParaRPr lang="en-US" sz="1300" dirty="0"/>
          </a:p>
        </p:txBody>
      </p:sp>
      <p:sp>
        <p:nvSpPr>
          <p:cNvPr id="5" name="frame m8-browser-ingress-elb.png"/>
          <p:cNvSpPr/>
          <p:nvPr/>
        </p:nvSpPr>
        <p:spPr>
          <a:xfrm>
            <a:off x="548640" y="1569039"/>
            <a:ext cx="6949440" cy="4268562"/>
          </a:xfrm>
          <a:prstGeom prst="roundRect">
            <a:avLst>
              <a:gd name="adj" fmla="val 1714"/>
            </a:avLst>
          </a:prstGeom>
          <a:solidFill>
            <a:srgbClr val="1A1D24"/>
          </a:solidFill>
          <a:ln w="9525">
            <a:solidFill>
              <a:srgbClr val="2E33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6" name="m8-browser-ingress-elb.png" descr="C:\Users\himanshu\OneDrive\Desktop\YEAR 3\Term-1\capstone-devops\docs\screenshots\m8-browser-ingress-e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642191"/>
            <a:ext cx="6803136" cy="382965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21792" y="5490129"/>
            <a:ext cx="680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served from the AWS load balancer hostname</a:t>
            </a:r>
            <a:endParaRPr lang="en-US" sz="1100" dirty="0"/>
          </a:p>
        </p:txBody>
      </p:sp>
      <p:sp>
        <p:nvSpPr>
          <p:cNvPr id="8" name="frame m8-app-eks-swagger.png"/>
          <p:cNvSpPr/>
          <p:nvPr/>
        </p:nvSpPr>
        <p:spPr>
          <a:xfrm>
            <a:off x="7785750" y="1234440"/>
            <a:ext cx="3859500" cy="3017520"/>
          </a:xfrm>
          <a:prstGeom prst="roundRect">
            <a:avLst>
              <a:gd name="adj" fmla="val 2424"/>
            </a:avLst>
          </a:prstGeom>
          <a:solidFill>
            <a:srgbClr val="1A1D24"/>
          </a:solidFill>
          <a:ln w="9525">
            <a:solidFill>
              <a:srgbClr val="2E33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9" name="m8-app-eks-swagger.png" descr="C:\Users\himanshu\OneDrive\Desktop\YEAR 3\Term-1\capstone-devops\docs\screenshots\m8-app-eks-swagg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902" y="1307592"/>
            <a:ext cx="3713196" cy="2578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858902" y="3904488"/>
            <a:ext cx="37131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Swagger at /docs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7863840" y="4526280"/>
            <a:ext cx="3794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b="1" dirty="0">
                <a:solidFill>
                  <a:srgbClr val="FF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  <a:pPr indent="0" marL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React frontend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b="1" dirty="0">
                <a:solidFill>
                  <a:srgbClr val="FF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/api, /docs </a:t>
            </a:r>
            <a:pPr indent="0" marL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FastAPI backend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b="1" dirty="0">
                <a:solidFill>
                  <a:srgbClr val="FF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 </a:t>
            </a:r>
            <a:pPr indent="0" marL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liveness, </a:t>
            </a:r>
            <a:pPr indent="0" marL="0">
              <a:buNone/>
            </a:pPr>
            <a:r>
              <a:rPr lang="en-US" sz="1500" b="1" dirty="0">
                <a:solidFill>
                  <a:srgbClr val="FF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/ready </a:t>
            </a:r>
            <a:pPr indent="0" marL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7AD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gates before any image exists</a:t>
            </a:r>
            <a:endParaRPr lang="en-US" sz="3000" dirty="0"/>
          </a:p>
        </p:txBody>
      </p:sp>
      <p:sp>
        <p:nvSpPr>
          <p:cNvPr id="3" name="module chip"/>
          <p:cNvSpPr/>
          <p:nvPr/>
        </p:nvSpPr>
        <p:spPr>
          <a:xfrm>
            <a:off x="9646920" y="438912"/>
            <a:ext cx="2011680" cy="438912"/>
          </a:xfrm>
          <a:prstGeom prst="roundRect">
            <a:avLst>
              <a:gd name="adj" fmla="val 50000"/>
            </a:avLst>
          </a:prstGeom>
          <a:solidFill>
            <a:srgbClr val="2A1A12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438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· M4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344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27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391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tests passing, on an isolated in-memory DB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889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5935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from one docker compose up --build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non-root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480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uid 10001 · Nginx uid 101</a:t>
            </a:r>
            <a:endParaRPr lang="en-US" sz="1400" dirty="0"/>
          </a:p>
        </p:txBody>
      </p:sp>
      <p:sp>
        <p:nvSpPr>
          <p:cNvPr id="11" name="frame m2-pytest.png"/>
          <p:cNvSpPr/>
          <p:nvPr/>
        </p:nvSpPr>
        <p:spPr>
          <a:xfrm>
            <a:off x="5070872" y="1188720"/>
            <a:ext cx="5083017" cy="3520440"/>
          </a:xfrm>
          <a:prstGeom prst="roundRect">
            <a:avLst>
              <a:gd name="adj" fmla="val 2078"/>
            </a:avLst>
          </a:prstGeom>
          <a:solidFill>
            <a:srgbClr val="1A1D24"/>
          </a:solidFill>
          <a:ln w="9525">
            <a:solidFill>
              <a:srgbClr val="2E33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12" name="m2-pytest.png" descr="C:\Users\himanshu\OneDrive\Desktop\YEAR 3\Term-1\capstone-devops\docs\screenshots\m2-py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4024" y="1261872"/>
            <a:ext cx="4936713" cy="3374136"/>
          </a:xfrm>
          <a:prstGeom prst="rect">
            <a:avLst/>
          </a:prstGeom>
        </p:spPr>
      </p:pic>
      <p:sp>
        <p:nvSpPr>
          <p:cNvPr id="13" name="frame m4-compose-ps-nonroot.png"/>
          <p:cNvSpPr/>
          <p:nvPr/>
        </p:nvSpPr>
        <p:spPr>
          <a:xfrm>
            <a:off x="5103114" y="4800600"/>
            <a:ext cx="5018532" cy="1417320"/>
          </a:xfrm>
          <a:prstGeom prst="roundRect">
            <a:avLst>
              <a:gd name="adj" fmla="val 5161"/>
            </a:avLst>
          </a:prstGeom>
          <a:solidFill>
            <a:srgbClr val="1A1D24"/>
          </a:solidFill>
          <a:ln w="9525">
            <a:solidFill>
              <a:srgbClr val="2E33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14" name="m4-compose-ps-nonroot.png" descr="C:\Users\himanshu\OneDrive\Desktop\YEAR 3\Term-1\capstone-devops\docs\screenshots\m4-compose-ps-nonro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6266" y="4873752"/>
            <a:ext cx="4872228" cy="127101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7AD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push: test, build, scan, ship, deploy</a:t>
            </a:r>
            <a:endParaRPr lang="en-US" sz="3000" dirty="0"/>
          </a:p>
        </p:txBody>
      </p:sp>
      <p:sp>
        <p:nvSpPr>
          <p:cNvPr id="3" name="module chip"/>
          <p:cNvSpPr/>
          <p:nvPr/>
        </p:nvSpPr>
        <p:spPr>
          <a:xfrm>
            <a:off x="9646920" y="438912"/>
            <a:ext cx="2011680" cy="438912"/>
          </a:xfrm>
          <a:prstGeom prst="roundRect">
            <a:avLst>
              <a:gd name="adj" fmla="val 50000"/>
            </a:avLst>
          </a:prstGeom>
          <a:solidFill>
            <a:srgbClr val="2A1A12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438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· CI/CD</a:t>
            </a:r>
            <a:endParaRPr lang="en-US" sz="1300" dirty="0"/>
          </a:p>
        </p:txBody>
      </p:sp>
      <p:sp>
        <p:nvSpPr>
          <p:cNvPr id="5" name="frame m5-actions-run-deploy.png"/>
          <p:cNvSpPr/>
          <p:nvPr/>
        </p:nvSpPr>
        <p:spPr>
          <a:xfrm>
            <a:off x="720181" y="1234440"/>
            <a:ext cx="5966277" cy="4480560"/>
          </a:xfrm>
          <a:prstGeom prst="roundRect">
            <a:avLst>
              <a:gd name="adj" fmla="val 1633"/>
            </a:avLst>
          </a:prstGeom>
          <a:solidFill>
            <a:srgbClr val="1A1D24"/>
          </a:solidFill>
          <a:ln w="9525">
            <a:solidFill>
              <a:srgbClr val="2E33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6" name="m5-actions-run-deploy.png" descr="C:\Users\himanshu\OneDrive\Desktop\YEAR 3\Term-1\capstone-devops\docs\screenshots\m5-actions-run-deplo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333" y="1307592"/>
            <a:ext cx="5819973" cy="40416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3333" y="5367528"/>
            <a:ext cx="58199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#4: all three jobs green, including the Helm deploy to EKS</a:t>
            </a:r>
            <a:endParaRPr lang="en-US" sz="1100" dirty="0"/>
          </a:p>
        </p:txBody>
      </p:sp>
      <p:sp>
        <p:nvSpPr>
          <p:cNvPr id="8" name="frame m5-ghcr-backend.png"/>
          <p:cNvSpPr/>
          <p:nvPr/>
        </p:nvSpPr>
        <p:spPr>
          <a:xfrm>
            <a:off x="7425011" y="1234440"/>
            <a:ext cx="3940898" cy="3337560"/>
          </a:xfrm>
          <a:prstGeom prst="roundRect">
            <a:avLst>
              <a:gd name="adj" fmla="val 2192"/>
            </a:avLst>
          </a:prstGeom>
          <a:solidFill>
            <a:srgbClr val="1A1D24"/>
          </a:solidFill>
          <a:ln w="9525">
            <a:solidFill>
              <a:srgbClr val="2E33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9" name="m5-ghcr-backend.png" descr="C:\Users\himanshu\OneDrive\Desktop\YEAR 3\Term-1\capstone-devops\docs\screenshots\m5-ghcr-backe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163" y="1307592"/>
            <a:ext cx="3794594" cy="28986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498163" y="4224528"/>
            <a:ext cx="37945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GHCR package, tags = commit SHA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7223760" y="4754880"/>
            <a:ext cx="4434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gate the build: a failure means nothing is pushed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image is tagged with the Git SHA, never latest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deploys that exact SHA and waits for readiness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7AD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Trivy: 4 HIGH CVEs found and fixed</a:t>
            </a:r>
            <a:endParaRPr lang="en-US" sz="3000" dirty="0"/>
          </a:p>
        </p:txBody>
      </p:sp>
      <p:sp>
        <p:nvSpPr>
          <p:cNvPr id="3" name="module chip"/>
          <p:cNvSpPr/>
          <p:nvPr/>
        </p:nvSpPr>
        <p:spPr>
          <a:xfrm>
            <a:off x="9646920" y="438912"/>
            <a:ext cx="2011680" cy="438912"/>
          </a:xfrm>
          <a:prstGeom prst="roundRect">
            <a:avLst>
              <a:gd name="adj" fmla="val 50000"/>
            </a:avLst>
          </a:prstGeom>
          <a:solidFill>
            <a:srgbClr val="2A1A12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438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· Trivy</a:t>
            </a:r>
            <a:endParaRPr lang="en-US" sz="1300" dirty="0"/>
          </a:p>
        </p:txBody>
      </p:sp>
      <p:sp>
        <p:nvSpPr>
          <p:cNvPr id="5" name="frame img/trivy-crop.png"/>
          <p:cNvSpPr/>
          <p:nvPr/>
        </p:nvSpPr>
        <p:spPr>
          <a:xfrm>
            <a:off x="655828" y="1234440"/>
            <a:ext cx="6369304" cy="4023360"/>
          </a:xfrm>
          <a:prstGeom prst="roundRect">
            <a:avLst>
              <a:gd name="adj" fmla="val 1818"/>
            </a:avLst>
          </a:prstGeom>
          <a:solidFill>
            <a:srgbClr val="1A1D24"/>
          </a:solidFill>
          <a:ln w="9525">
            <a:solidFill>
              <a:srgbClr val="2E33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6" name="img/trivy-crop.png" descr="C:\Users\himanshu\AppData\Local\Temp\claude\c--Users-himanshu-OneDrive-Desktop-YEAR-3-Term-1-capstone-devops\c501a631-f0ec-4a32-a8c7-87ea9c429462\scratchpad\deck\img\trivy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8980" y="1307592"/>
            <a:ext cx="6223000" cy="35844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28980" y="4910328"/>
            <a:ext cx="622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scan of the backend image: 0 fixable HIGH/CRITICAL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0" y="11887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→ 0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7498080" y="19933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vulnerabilities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9646920" y="11887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9646920" y="19933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frontend image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498080" y="2743200"/>
            <a:ext cx="41605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b="1" dirty="0">
                <a:solidFill>
                  <a:srgbClr val="FF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</a:t>
            </a:r>
            <a:pPr indent="0" marL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urllib3, msgpack, setuptools vendored inside pip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b="1" dirty="0">
                <a:solidFill>
                  <a:srgbClr val="FF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pip from the runtime image; it's build-only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b="1" dirty="0">
                <a:solidFill>
                  <a:srgbClr val="FF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chain: </a:t>
            </a:r>
            <a:pPr indent="0" marL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action pinned to a commit SHA after the 2026 tag hijack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b="1" dirty="0">
                <a:solidFill>
                  <a:srgbClr val="FF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Runtime: </a:t>
            </a:r>
            <a:pPr indent="0" marL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 pods, restricted Pod Security, least-privilege deploy user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7AD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built the whole AWS stack</a:t>
            </a:r>
            <a:endParaRPr lang="en-US" sz="3000" dirty="0"/>
          </a:p>
        </p:txBody>
      </p:sp>
      <p:sp>
        <p:nvSpPr>
          <p:cNvPr id="3" name="module chip"/>
          <p:cNvSpPr/>
          <p:nvPr/>
        </p:nvSpPr>
        <p:spPr>
          <a:xfrm>
            <a:off x="9646920" y="438912"/>
            <a:ext cx="2011680" cy="438912"/>
          </a:xfrm>
          <a:prstGeom prst="roundRect">
            <a:avLst>
              <a:gd name="adj" fmla="val 50000"/>
            </a:avLst>
          </a:prstGeom>
          <a:solidFill>
            <a:srgbClr val="2A1A12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438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 · Terraform</a:t>
            </a:r>
            <a:endParaRPr lang="en-US" sz="1300" dirty="0"/>
          </a:p>
        </p:txBody>
      </p:sp>
      <p:sp>
        <p:nvSpPr>
          <p:cNvPr id="5" name="frame img/plan-crop.png"/>
          <p:cNvSpPr/>
          <p:nvPr/>
        </p:nvSpPr>
        <p:spPr>
          <a:xfrm>
            <a:off x="715750" y="1234440"/>
            <a:ext cx="5152180" cy="2148840"/>
          </a:xfrm>
          <a:prstGeom prst="roundRect">
            <a:avLst>
              <a:gd name="adj" fmla="val 3404"/>
            </a:avLst>
          </a:prstGeom>
          <a:solidFill>
            <a:srgbClr val="1A1D24"/>
          </a:solidFill>
          <a:ln w="9525">
            <a:solidFill>
              <a:srgbClr val="2E33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6" name="img/plan-crop.png" descr="C:\Users\himanshu\AppData\Local\Temp\claude\c--Users-himanshu-OneDrive-Desktop-YEAR-3-Term-1-capstone-devops\c501a631-f0ec-4a32-a8c7-87ea9c429462\scratchpad\deck\img\plan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902" y="1307592"/>
            <a:ext cx="5005876" cy="170992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88902" y="3035808"/>
            <a:ext cx="50058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plan: 64 resources to add</a:t>
            </a:r>
            <a:endParaRPr lang="en-US" sz="1100" dirty="0"/>
          </a:p>
        </p:txBody>
      </p:sp>
      <p:sp>
        <p:nvSpPr>
          <p:cNvPr id="8" name="frame m7-console-subnets.png"/>
          <p:cNvSpPr/>
          <p:nvPr/>
        </p:nvSpPr>
        <p:spPr>
          <a:xfrm>
            <a:off x="1054387" y="3611880"/>
            <a:ext cx="4474906" cy="2651760"/>
          </a:xfrm>
          <a:prstGeom prst="roundRect">
            <a:avLst>
              <a:gd name="adj" fmla="val 2759"/>
            </a:avLst>
          </a:prstGeom>
          <a:solidFill>
            <a:srgbClr val="1A1D24"/>
          </a:solidFill>
          <a:ln w="9525">
            <a:solidFill>
              <a:srgbClr val="2E33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9" name="m7-console-subnets.png" descr="C:\Users\himanshu\OneDrive\Desktop\YEAR 3\Term-1\capstone-devops\docs\screenshots\m7-console-subne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539" y="3685032"/>
            <a:ext cx="4328602" cy="22128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27539" y="5916168"/>
            <a:ext cx="43286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public + 2 private subnets across two AZs</a:t>
            </a:r>
            <a:endParaRPr lang="en-US" sz="1100" dirty="0"/>
          </a:p>
        </p:txBody>
      </p:sp>
      <p:sp>
        <p:nvSpPr>
          <p:cNvPr id="11" name="frame m7-console-eks-cluster.png"/>
          <p:cNvSpPr/>
          <p:nvPr/>
        </p:nvSpPr>
        <p:spPr>
          <a:xfrm>
            <a:off x="6429833" y="1234440"/>
            <a:ext cx="5108294" cy="3108960"/>
          </a:xfrm>
          <a:prstGeom prst="roundRect">
            <a:avLst>
              <a:gd name="adj" fmla="val 2353"/>
            </a:avLst>
          </a:prstGeom>
          <a:solidFill>
            <a:srgbClr val="1A1D24"/>
          </a:solidFill>
          <a:ln w="9525">
            <a:solidFill>
              <a:srgbClr val="2E33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12" name="m7-console-eks-cluster.png" descr="C:\Users\himanshu\OneDrive\Desktop\YEAR 3\Term-1\capstone-devops\docs\screenshots\m7-console-eks-clus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985" y="1307592"/>
            <a:ext cx="4961990" cy="267004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502985" y="3995928"/>
            <a:ext cx="49619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ironpulse-eks: Active, Kubernetes 1.35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6400800" y="4572000"/>
            <a:ext cx="5257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10.30.0.0/16, NAT gateway, private worker nodes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node group: 2 × m7i-flex.large (AL2023)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CSI driver via IRSA, CI deployer IAM user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7AD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+ Helm on EKS</a:t>
            </a:r>
            <a:endParaRPr lang="en-US" sz="3000" dirty="0"/>
          </a:p>
        </p:txBody>
      </p:sp>
      <p:sp>
        <p:nvSpPr>
          <p:cNvPr id="3" name="module chip"/>
          <p:cNvSpPr/>
          <p:nvPr/>
        </p:nvSpPr>
        <p:spPr>
          <a:xfrm>
            <a:off x="9646920" y="438912"/>
            <a:ext cx="2011680" cy="438912"/>
          </a:xfrm>
          <a:prstGeom prst="roundRect">
            <a:avLst>
              <a:gd name="adj" fmla="val 50000"/>
            </a:avLst>
          </a:prstGeom>
          <a:solidFill>
            <a:srgbClr val="2A1A12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438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 · K8s</a:t>
            </a:r>
            <a:endParaRPr lang="en-US" sz="1300" dirty="0"/>
          </a:p>
        </p:txBody>
      </p:sp>
      <p:sp>
        <p:nvSpPr>
          <p:cNvPr id="5" name="frame m8-kubectl-pods.png"/>
          <p:cNvSpPr/>
          <p:nvPr/>
        </p:nvSpPr>
        <p:spPr>
          <a:xfrm>
            <a:off x="1876849" y="1188720"/>
            <a:ext cx="8453542" cy="2103120"/>
          </a:xfrm>
          <a:prstGeom prst="roundRect">
            <a:avLst>
              <a:gd name="adj" fmla="val 3478"/>
            </a:avLst>
          </a:prstGeom>
          <a:solidFill>
            <a:srgbClr val="1A1D24"/>
          </a:solidFill>
          <a:ln w="9525">
            <a:solidFill>
              <a:srgbClr val="2E33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6" name="m8-kubectl-pods.png" descr="C:\Users\himanshu\OneDrive\Desktop\YEAR 3\Term-1\capstone-devops\docs\screenshots\m8-kubectl-po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0001" y="1261872"/>
            <a:ext cx="8307238" cy="1956816"/>
          </a:xfrm>
          <a:prstGeom prst="rect">
            <a:avLst/>
          </a:prstGeom>
        </p:spPr>
      </p:pic>
      <p:sp>
        <p:nvSpPr>
          <p:cNvPr id="7" name="frame m8-kubectl-svc-ingress-hpa.png"/>
          <p:cNvSpPr/>
          <p:nvPr/>
        </p:nvSpPr>
        <p:spPr>
          <a:xfrm>
            <a:off x="548640" y="3518583"/>
            <a:ext cx="6949440" cy="2564034"/>
          </a:xfrm>
          <a:prstGeom prst="roundRect">
            <a:avLst>
              <a:gd name="adj" fmla="val 2853"/>
            </a:avLst>
          </a:prstGeom>
          <a:solidFill>
            <a:srgbClr val="1A1D24"/>
          </a:solidFill>
          <a:ln w="9525">
            <a:solidFill>
              <a:srgbClr val="2E33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8" name="m8-kubectl-svc-ingress-hpa.png" descr="C:\Users\himanshu\OneDrive\Desktop\YEAR 3\Term-1\capstone-devops\docs\screenshots\m8-kubectl-svc-ingress-hp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3591735"/>
            <a:ext cx="6803136" cy="241773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772400" y="3520440"/>
            <a:ext cx="3886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backend + 2 frontend pods, spread over 2 AZs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ClusterIP Services, Traefik Ingress, Postgres StatefulSet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Pod Security: non-root, no capabilities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Zero-downtime rolling updates; helm rollback ready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7AD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Autoscaling under real load</a:t>
            </a:r>
            <a:endParaRPr lang="en-US" sz="3000" dirty="0"/>
          </a:p>
        </p:txBody>
      </p:sp>
      <p:sp>
        <p:nvSpPr>
          <p:cNvPr id="3" name="module chip"/>
          <p:cNvSpPr/>
          <p:nvPr/>
        </p:nvSpPr>
        <p:spPr>
          <a:xfrm>
            <a:off x="9646920" y="438912"/>
            <a:ext cx="2011680" cy="438912"/>
          </a:xfrm>
          <a:prstGeom prst="roundRect">
            <a:avLst>
              <a:gd name="adj" fmla="val 50000"/>
            </a:avLst>
          </a:prstGeom>
          <a:solidFill>
            <a:srgbClr val="2A1A12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438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 · HPA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→ 4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848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pods added by the HPA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346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6393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vs. the 60% target at peak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3891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 s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937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test: 40 workers through the AWS load balancer</a:t>
            </a:r>
            <a:endParaRPr lang="en-US" sz="1400" dirty="0"/>
          </a:p>
        </p:txBody>
      </p:sp>
      <p:sp>
        <p:nvSpPr>
          <p:cNvPr id="11" name="frame m8-hpa-scaling.png"/>
          <p:cNvSpPr/>
          <p:nvPr/>
        </p:nvSpPr>
        <p:spPr>
          <a:xfrm>
            <a:off x="3667624" y="1234440"/>
            <a:ext cx="7980952" cy="3108960"/>
          </a:xfrm>
          <a:prstGeom prst="roundRect">
            <a:avLst>
              <a:gd name="adj" fmla="val 2353"/>
            </a:avLst>
          </a:prstGeom>
          <a:solidFill>
            <a:srgbClr val="1A1D24"/>
          </a:solidFill>
          <a:ln w="9525">
            <a:solidFill>
              <a:srgbClr val="2E33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12" name="m8-hpa-scaling.png" descr="C:\Users\himanshu\OneDrive\Desktop\YEAR 3\Term-1\capstone-devops\docs\screenshots\m8-hpa-sca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0776" y="1307592"/>
            <a:ext cx="7834648" cy="2670048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3740776" y="3995928"/>
            <a:ext cx="7834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get hpa -w during scripts/load-test.sh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3749040" y="46177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stops → scale-down waits for a 2-minute stabilization window, then steps back to 3 and 2 replicas.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7AD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+ Grafana watching the API</a:t>
            </a:r>
            <a:endParaRPr lang="en-US" sz="3000" dirty="0"/>
          </a:p>
        </p:txBody>
      </p:sp>
      <p:sp>
        <p:nvSpPr>
          <p:cNvPr id="3" name="module chip"/>
          <p:cNvSpPr/>
          <p:nvPr/>
        </p:nvSpPr>
        <p:spPr>
          <a:xfrm>
            <a:off x="9646920" y="438912"/>
            <a:ext cx="2011680" cy="438912"/>
          </a:xfrm>
          <a:prstGeom prst="roundRect">
            <a:avLst>
              <a:gd name="adj" fmla="val 50000"/>
            </a:avLst>
          </a:prstGeom>
          <a:solidFill>
            <a:srgbClr val="2A1A12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438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 · Monitoring</a:t>
            </a:r>
            <a:endParaRPr lang="en-US" sz="1300" dirty="0"/>
          </a:p>
        </p:txBody>
      </p:sp>
      <p:sp>
        <p:nvSpPr>
          <p:cNvPr id="5" name="frame m9-grafana-dashboard.png"/>
          <p:cNvSpPr/>
          <p:nvPr/>
        </p:nvSpPr>
        <p:spPr>
          <a:xfrm>
            <a:off x="754563" y="1188720"/>
            <a:ext cx="6080394" cy="5074920"/>
          </a:xfrm>
          <a:prstGeom prst="roundRect">
            <a:avLst>
              <a:gd name="adj" fmla="val 1441"/>
            </a:avLst>
          </a:prstGeom>
          <a:solidFill>
            <a:srgbClr val="1A1D24"/>
          </a:solidFill>
          <a:ln w="9525">
            <a:solidFill>
              <a:srgbClr val="2E33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6" name="m9-grafana-dashboard.png" descr="C:\Users\himanshu\OneDrive\Desktop\YEAR 3\Term-1\capstone-devops\docs\screenshots\m9-grafana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715" y="1261872"/>
            <a:ext cx="5934090" cy="46360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7715" y="5916168"/>
            <a:ext cx="59340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Auto-provisioned dashboard during the load test</a:t>
            </a:r>
            <a:endParaRPr lang="en-US" sz="1100" dirty="0"/>
          </a:p>
        </p:txBody>
      </p:sp>
      <p:sp>
        <p:nvSpPr>
          <p:cNvPr id="8" name="frame m9-prometheus-targets.png"/>
          <p:cNvSpPr/>
          <p:nvPr/>
        </p:nvSpPr>
        <p:spPr>
          <a:xfrm>
            <a:off x="7474306" y="1188720"/>
            <a:ext cx="3979469" cy="2834640"/>
          </a:xfrm>
          <a:prstGeom prst="roundRect">
            <a:avLst>
              <a:gd name="adj" fmla="val 2581"/>
            </a:avLst>
          </a:prstGeom>
          <a:solidFill>
            <a:srgbClr val="1A1D24"/>
          </a:solidFill>
          <a:ln w="9525">
            <a:solidFill>
              <a:srgbClr val="2E33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9" name="m9-prometheus-targets.png" descr="C:\Users\himanshu\OneDrive\Desktop\YEAR 3\Term-1\capstone-devops\docs\screenshots\m9-prometheus-targe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7458" y="1261872"/>
            <a:ext cx="3833165" cy="239572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547458" y="3675888"/>
            <a:ext cx="38331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ServiceMonitor targets: 3/3 UP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7360920" y="4251960"/>
            <a:ext cx="4297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/metrics: request rate, latency histograms, status codes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metric: gym_checkins_total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Alerts: backend down, &gt;5% errors, p95 &gt; 1 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7AD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broke, and how it was fixed</a:t>
            </a:r>
            <a:endParaRPr lang="en-US" sz="3000" dirty="0"/>
          </a:p>
        </p:txBody>
      </p:sp>
      <p:sp>
        <p:nvSpPr>
          <p:cNvPr id="3" name="module chip"/>
          <p:cNvSpPr/>
          <p:nvPr/>
        </p:nvSpPr>
        <p:spPr>
          <a:xfrm>
            <a:off x="9646920" y="438912"/>
            <a:ext cx="2011680" cy="438912"/>
          </a:xfrm>
          <a:prstGeom prst="roundRect">
            <a:avLst>
              <a:gd name="adj" fmla="val 50000"/>
            </a:avLst>
          </a:prstGeom>
          <a:solidFill>
            <a:srgbClr val="2A1A12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438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</a:t>
            </a:r>
            <a:endParaRPr lang="en-US" sz="1300" dirty="0"/>
          </a:p>
        </p:txBody>
      </p:sp>
      <p:sp>
        <p:nvSpPr>
          <p:cNvPr id="5" name="card No worker nodes"/>
          <p:cNvSpPr/>
          <p:nvPr/>
        </p:nvSpPr>
        <p:spPr>
          <a:xfrm>
            <a:off x="548640" y="1325880"/>
            <a:ext cx="2971800" cy="2103120"/>
          </a:xfrm>
          <a:prstGeom prst="roundRect">
            <a:avLst>
              <a:gd name="adj" fmla="val 4348"/>
            </a:avLst>
          </a:prstGeom>
          <a:solidFill>
            <a:srgbClr val="1A1D24"/>
          </a:solidFill>
          <a:ln w="9525">
            <a:solidFill>
              <a:srgbClr val="2E3340"/>
            </a:solidFill>
            <a:prstDash val="solid"/>
          </a:ln>
        </p:spPr>
      </p:sp>
      <p:sp>
        <p:nvSpPr>
          <p:cNvPr id="6" name="dot"/>
          <p:cNvSpPr/>
          <p:nvPr/>
        </p:nvSpPr>
        <p:spPr>
          <a:xfrm>
            <a:off x="777240" y="1572768"/>
            <a:ext cx="201168" cy="201168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4630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worker nodes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92024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Free plan rejected t3.medium. Switched to Free Tier eligible m7i-flex.large.</a:t>
            </a:r>
            <a:endParaRPr lang="en-US" sz="1400" dirty="0"/>
          </a:p>
        </p:txBody>
      </p:sp>
      <p:sp>
        <p:nvSpPr>
          <p:cNvPr id="9" name="card Root can't use kubectl"/>
          <p:cNvSpPr/>
          <p:nvPr/>
        </p:nvSpPr>
        <p:spPr>
          <a:xfrm>
            <a:off x="3703320" y="1325880"/>
            <a:ext cx="2971800" cy="2103120"/>
          </a:xfrm>
          <a:prstGeom prst="roundRect">
            <a:avLst>
              <a:gd name="adj" fmla="val 4348"/>
            </a:avLst>
          </a:prstGeom>
          <a:solidFill>
            <a:srgbClr val="1A1D24"/>
          </a:solidFill>
          <a:ln w="9525">
            <a:solidFill>
              <a:srgbClr val="2E3340"/>
            </a:solidFill>
            <a:prstDash val="solid"/>
          </a:ln>
        </p:spPr>
      </p:sp>
      <p:sp>
        <p:nvSpPr>
          <p:cNvPr id="10" name="dot"/>
          <p:cNvSpPr/>
          <p:nvPr/>
        </p:nvSpPr>
        <p:spPr>
          <a:xfrm>
            <a:off x="3931920" y="1572768"/>
            <a:ext cx="201168" cy="2011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51960" y="14630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can't use kubectl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192024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rejects root as a principal. Terraform now creates a scoped deployer IAM user.</a:t>
            </a:r>
            <a:endParaRPr lang="en-US" sz="1400" dirty="0"/>
          </a:p>
        </p:txBody>
      </p:sp>
      <p:sp>
        <p:nvSpPr>
          <p:cNvPr id="13" name="card Deploy crash-looped"/>
          <p:cNvSpPr/>
          <p:nvPr/>
        </p:nvSpPr>
        <p:spPr>
          <a:xfrm>
            <a:off x="548640" y="3703320"/>
            <a:ext cx="2971800" cy="2103120"/>
          </a:xfrm>
          <a:prstGeom prst="roundRect">
            <a:avLst>
              <a:gd name="adj" fmla="val 4348"/>
            </a:avLst>
          </a:prstGeom>
          <a:solidFill>
            <a:srgbClr val="1A1D24"/>
          </a:solidFill>
          <a:ln w="9525">
            <a:solidFill>
              <a:srgbClr val="2E3340"/>
            </a:solidFill>
            <a:prstDash val="solid"/>
          </a:ln>
        </p:spPr>
      </p:sp>
      <p:sp>
        <p:nvSpPr>
          <p:cNvPr id="14" name="dot"/>
          <p:cNvSpPr/>
          <p:nvPr/>
        </p:nvSpPr>
        <p:spPr>
          <a:xfrm>
            <a:off x="777240" y="3950208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97280" y="3840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crash-looped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29768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passed an empty DB password. Old pods kept serving; helm rollback, then fixed the workflow + chart.</a:t>
            </a:r>
            <a:endParaRPr lang="en-US" sz="1400" dirty="0"/>
          </a:p>
        </p:txBody>
      </p:sp>
      <p:sp>
        <p:nvSpPr>
          <p:cNvPr id="17" name="card Lab pods never started"/>
          <p:cNvSpPr/>
          <p:nvPr/>
        </p:nvSpPr>
        <p:spPr>
          <a:xfrm>
            <a:off x="3703320" y="3703320"/>
            <a:ext cx="2971800" cy="2103120"/>
          </a:xfrm>
          <a:prstGeom prst="roundRect">
            <a:avLst>
              <a:gd name="adj" fmla="val 4348"/>
            </a:avLst>
          </a:prstGeom>
          <a:solidFill>
            <a:srgbClr val="1A1D24"/>
          </a:solidFill>
          <a:ln w="9525">
            <a:solidFill>
              <a:srgbClr val="2E3340"/>
            </a:solidFill>
            <a:prstDash val="solid"/>
          </a:ln>
        </p:spPr>
      </p:sp>
      <p:sp>
        <p:nvSpPr>
          <p:cNvPr id="18" name="dot"/>
          <p:cNvSpPr/>
          <p:nvPr/>
        </p:nvSpPr>
        <p:spPr>
          <a:xfrm>
            <a:off x="3931920" y="3950208"/>
            <a:ext cx="201168" cy="20116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51960" y="3840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pods never started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931920" y="429768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Pod Security blocked them. Lab manifests now set a compliant securityContext.</a:t>
            </a:r>
            <a:endParaRPr lang="en-US" sz="1400" dirty="0"/>
          </a:p>
        </p:txBody>
      </p:sp>
      <p:sp>
        <p:nvSpPr>
          <p:cNvPr id="21" name="frame m8-helm-rollback.png"/>
          <p:cNvSpPr/>
          <p:nvPr/>
        </p:nvSpPr>
        <p:spPr>
          <a:xfrm>
            <a:off x="6995160" y="1452570"/>
            <a:ext cx="4663440" cy="2855580"/>
          </a:xfrm>
          <a:prstGeom prst="roundRect">
            <a:avLst>
              <a:gd name="adj" fmla="val 2562"/>
            </a:avLst>
          </a:prstGeom>
          <a:solidFill>
            <a:srgbClr val="1A1D24"/>
          </a:solidFill>
          <a:ln w="9525">
            <a:solidFill>
              <a:srgbClr val="2E33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22" name="m8-helm-rollback.png" descr="C:\Users\himanshu\OneDrive\Desktop\YEAR 3\Term-1\capstone-devops\docs\screenshots\m8-helm-rollb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8312" y="1525722"/>
            <a:ext cx="4517136" cy="2416668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7068312" y="3960678"/>
            <a:ext cx="4517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revision 2 → rollback → fixed revision 4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086600" y="48006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incident is reproducible from the repo and documented in the README.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7AD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rubric module, delivered and verified</a:t>
            </a:r>
            <a:endParaRPr lang="en-US" sz="3000" dirty="0"/>
          </a:p>
        </p:txBody>
      </p:sp>
      <p:sp>
        <p:nvSpPr>
          <p:cNvPr id="3" name="mod M1"/>
          <p:cNvSpPr/>
          <p:nvPr/>
        </p:nvSpPr>
        <p:spPr>
          <a:xfrm>
            <a:off x="548640" y="1417320"/>
            <a:ext cx="1261872" cy="1051560"/>
          </a:xfrm>
          <a:prstGeom prst="roundRect">
            <a:avLst>
              <a:gd name="adj" fmla="val 8696"/>
            </a:avLst>
          </a:prstGeom>
          <a:solidFill>
            <a:srgbClr val="1A1D2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12618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M1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600" dirty="0"/>
          </a:p>
        </p:txBody>
      </p:sp>
      <p:sp>
        <p:nvSpPr>
          <p:cNvPr id="5" name="mod M2"/>
          <p:cNvSpPr/>
          <p:nvPr/>
        </p:nvSpPr>
        <p:spPr>
          <a:xfrm>
            <a:off x="1938528" y="1417320"/>
            <a:ext cx="1261872" cy="1051560"/>
          </a:xfrm>
          <a:prstGeom prst="roundRect">
            <a:avLst>
              <a:gd name="adj" fmla="val 8696"/>
            </a:avLst>
          </a:prstGeom>
          <a:solidFill>
            <a:srgbClr val="1A1D2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38528" y="1417320"/>
            <a:ext cx="12618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M2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600" dirty="0"/>
          </a:p>
        </p:txBody>
      </p:sp>
      <p:sp>
        <p:nvSpPr>
          <p:cNvPr id="7" name="mod M3"/>
          <p:cNvSpPr/>
          <p:nvPr/>
        </p:nvSpPr>
        <p:spPr>
          <a:xfrm>
            <a:off x="3328416" y="1417320"/>
            <a:ext cx="1261872" cy="1051560"/>
          </a:xfrm>
          <a:prstGeom prst="roundRect">
            <a:avLst>
              <a:gd name="adj" fmla="val 8696"/>
            </a:avLst>
          </a:prstGeom>
          <a:solidFill>
            <a:srgbClr val="1A1D2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28416" y="1417320"/>
            <a:ext cx="12618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M3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600" dirty="0"/>
          </a:p>
        </p:txBody>
      </p:sp>
      <p:sp>
        <p:nvSpPr>
          <p:cNvPr id="9" name="mod M4"/>
          <p:cNvSpPr/>
          <p:nvPr/>
        </p:nvSpPr>
        <p:spPr>
          <a:xfrm>
            <a:off x="4718304" y="1417320"/>
            <a:ext cx="1261872" cy="1051560"/>
          </a:xfrm>
          <a:prstGeom prst="roundRect">
            <a:avLst>
              <a:gd name="adj" fmla="val 8696"/>
            </a:avLst>
          </a:prstGeom>
          <a:solidFill>
            <a:srgbClr val="1A1D2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18304" y="1417320"/>
            <a:ext cx="12618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M4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600" dirty="0"/>
          </a:p>
        </p:txBody>
      </p:sp>
      <p:sp>
        <p:nvSpPr>
          <p:cNvPr id="11" name="mod M5"/>
          <p:cNvSpPr/>
          <p:nvPr/>
        </p:nvSpPr>
        <p:spPr>
          <a:xfrm>
            <a:off x="6108192" y="1417320"/>
            <a:ext cx="1261872" cy="1051560"/>
          </a:xfrm>
          <a:prstGeom prst="roundRect">
            <a:avLst>
              <a:gd name="adj" fmla="val 8696"/>
            </a:avLst>
          </a:prstGeom>
          <a:solidFill>
            <a:srgbClr val="1A1D2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08192" y="1417320"/>
            <a:ext cx="12618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M5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600" dirty="0"/>
          </a:p>
        </p:txBody>
      </p:sp>
      <p:sp>
        <p:nvSpPr>
          <p:cNvPr id="13" name="mod M6"/>
          <p:cNvSpPr/>
          <p:nvPr/>
        </p:nvSpPr>
        <p:spPr>
          <a:xfrm>
            <a:off x="548640" y="2651760"/>
            <a:ext cx="1261872" cy="1051560"/>
          </a:xfrm>
          <a:prstGeom prst="roundRect">
            <a:avLst>
              <a:gd name="adj" fmla="val 8696"/>
            </a:avLst>
          </a:prstGeom>
          <a:solidFill>
            <a:srgbClr val="1A1D2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651760"/>
            <a:ext cx="12618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M6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</a:t>
            </a:r>
            <a:endParaRPr lang="en-US" sz="1600" dirty="0"/>
          </a:p>
        </p:txBody>
      </p:sp>
      <p:sp>
        <p:nvSpPr>
          <p:cNvPr id="15" name="mod M7"/>
          <p:cNvSpPr/>
          <p:nvPr/>
        </p:nvSpPr>
        <p:spPr>
          <a:xfrm>
            <a:off x="1938528" y="2651760"/>
            <a:ext cx="1261872" cy="1051560"/>
          </a:xfrm>
          <a:prstGeom prst="roundRect">
            <a:avLst>
              <a:gd name="adj" fmla="val 8696"/>
            </a:avLst>
          </a:prstGeom>
          <a:solidFill>
            <a:srgbClr val="1A1D2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938528" y="2651760"/>
            <a:ext cx="12618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M7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600" dirty="0"/>
          </a:p>
        </p:txBody>
      </p:sp>
      <p:sp>
        <p:nvSpPr>
          <p:cNvPr id="17" name="mod M8"/>
          <p:cNvSpPr/>
          <p:nvPr/>
        </p:nvSpPr>
        <p:spPr>
          <a:xfrm>
            <a:off x="3328416" y="2651760"/>
            <a:ext cx="1261872" cy="1051560"/>
          </a:xfrm>
          <a:prstGeom prst="roundRect">
            <a:avLst>
              <a:gd name="adj" fmla="val 8696"/>
            </a:avLst>
          </a:prstGeom>
          <a:solidFill>
            <a:srgbClr val="1A1D2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28416" y="2651760"/>
            <a:ext cx="12618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M8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+ Helm</a:t>
            </a:r>
            <a:endParaRPr lang="en-US" sz="1600" dirty="0"/>
          </a:p>
        </p:txBody>
      </p:sp>
      <p:sp>
        <p:nvSpPr>
          <p:cNvPr id="19" name="mod M9"/>
          <p:cNvSpPr/>
          <p:nvPr/>
        </p:nvSpPr>
        <p:spPr>
          <a:xfrm>
            <a:off x="4718304" y="2651760"/>
            <a:ext cx="1261872" cy="1051560"/>
          </a:xfrm>
          <a:prstGeom prst="roundRect">
            <a:avLst>
              <a:gd name="adj" fmla="val 8696"/>
            </a:avLst>
          </a:prstGeom>
          <a:solidFill>
            <a:srgbClr val="1A1D2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18304" y="2651760"/>
            <a:ext cx="12618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M9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600" dirty="0"/>
          </a:p>
        </p:txBody>
      </p:sp>
      <p:sp>
        <p:nvSpPr>
          <p:cNvPr id="21" name="mod M10"/>
          <p:cNvSpPr/>
          <p:nvPr/>
        </p:nvSpPr>
        <p:spPr>
          <a:xfrm>
            <a:off x="6108192" y="2651760"/>
            <a:ext cx="1261872" cy="1051560"/>
          </a:xfrm>
          <a:prstGeom prst="roundRect">
            <a:avLst>
              <a:gd name="adj" fmla="val 8696"/>
            </a:avLst>
          </a:prstGeom>
          <a:solidFill>
            <a:srgbClr val="1A1D2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08192" y="2651760"/>
            <a:ext cx="12618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M10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1600" dirty="0"/>
          </a:p>
        </p:txBody>
      </p:sp>
      <p:sp>
        <p:nvSpPr>
          <p:cNvPr id="23" name="frame m7-aws-after-destroy.png"/>
          <p:cNvSpPr/>
          <p:nvPr/>
        </p:nvSpPr>
        <p:spPr>
          <a:xfrm>
            <a:off x="7680960" y="1325340"/>
            <a:ext cx="3977640" cy="2424241"/>
          </a:xfrm>
          <a:prstGeom prst="roundRect">
            <a:avLst>
              <a:gd name="adj" fmla="val 3018"/>
            </a:avLst>
          </a:prstGeom>
          <a:solidFill>
            <a:srgbClr val="1A1D24"/>
          </a:solidFill>
          <a:ln w="9525">
            <a:solidFill>
              <a:srgbClr val="2E33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24" name="m7-aws-after-destroy.png" descr="C:\Users\himanshu\OneDrive\Desktop\YEAR 3\Term-1\capstone-devops\docs\screenshots\m7-aws-after-destro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4112" y="1398492"/>
            <a:ext cx="3831336" cy="1985329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7754112" y="3402108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checked after terraform destroy: all empty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7680960" y="397764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 down after verification: </a:t>
            </a:r>
            <a:pPr indent="0" marL="0">
              <a:buNone/>
            </a:pPr>
            <a:r>
              <a:rPr lang="en-US" sz="14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clusters, nodes, NAT gateway, load balancers or volumes left running.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42062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 </a:t>
            </a:r>
            <a:pPr indent="0" marL="0">
              <a:spcAft>
                <a:spcPts val="600"/>
              </a:spcAft>
              <a:buNone/>
            </a:pPr>
            <a:r>
              <a:rPr lang="en-US" sz="1500" u="sng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github.com/Himanshu10071/devops-project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screenshots in docs/screenshots · rubric map in docs/SUBMISSION.md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53949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ronPulse">
  <a:themeElements>
    <a:clrScheme name="IronPulse">
      <a:dk1>
        <a:srgbClr val="0F1115"/>
      </a:dk1>
      <a:lt1>
        <a:srgbClr val="FFFFFF"/>
      </a:lt1>
      <a:dk2>
        <a:srgbClr val="1A1D24"/>
      </a:dk2>
      <a:lt2>
        <a:srgbClr val="A7ADB8"/>
      </a:lt2>
      <a:accent1>
        <a:srgbClr val="FF5A1F"/>
      </a:accent1>
      <a:accent2>
        <a:srgbClr val="FF9A3C"/>
      </a:accent2>
      <a:accent3>
        <a:srgbClr val="22C55E"/>
      </a:accent3>
      <a:accent4>
        <a:srgbClr val="3B82F6"/>
      </a:accent4>
      <a:accent5>
        <a:srgbClr val="F59E0B"/>
      </a:accent5>
      <a:accent6>
        <a:srgbClr val="E5E7EB"/>
      </a:accent6>
      <a:hlink>
        <a:srgbClr val="FF9A3C"/>
      </a:hlink>
      <a:folHlink>
        <a:srgbClr val="FF9A3C"/>
      </a:folHlink>
    </a:clrScheme>
    <a:fontScheme name="IronPuls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IronPulse — DevOps Capstone</dc:title>
  <dc:subject>PptxGenJS Presentation</dc:subject>
  <dc:creator>Himanshu Chauhan</dc:creator>
  <cp:lastModifiedBy>Himanshu Chauhan</cp:lastModifiedBy>
  <cp:revision>1</cp:revision>
  <dcterms:created xsi:type="dcterms:W3CDTF">2026-10-21T09:35:00Z</dcterms:created>
  <dcterms:modified xsi:type="dcterms:W3CDTF">2026-10-21T09:35:00Z</dcterms:modified>
</cp:coreProperties>
</file>